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2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2937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F2937"/>
                </a:solidFill>
                <a:latin typeface="Arial"/>
              </a:rPr>
              <a:t>Class distribution after cleaning (log scale)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Records</c:v>
                </c:pt>
              </c:strCache>
            </c:strRef>
          </c:tx>
          <c:spPr>
            <a:solidFill>
              <a:srgbClr val="A8A7A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9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8A7A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A78D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B683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BAF7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DA100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No Failure</c:v>
                  </c:pt>
                  <c:pt idx="1">
                    <c:v>TWF</c:v>
                  </c:pt>
                  <c:pt idx="2">
                    <c:v>HDF</c:v>
                  </c:pt>
                  <c:pt idx="3">
                    <c:v>PWF</c:v>
                  </c:pt>
                  <c:pt idx="4">
                    <c:v>OSF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9643</c:v>
                </c:pt>
                <c:pt idx="1">
                  <c:v>43</c:v>
                </c:pt>
                <c:pt idx="2">
                  <c:v>106</c:v>
                </c:pt>
                <c:pt idx="3">
                  <c:v>80</c:v>
                </c:pt>
                <c:pt idx="4">
                  <c:v>78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F29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logBase val="10"/>
          <c:orientation val="minMax"/>
          <c:min val="1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000000"/>
                    </a:solidFill>
                    <a:latin typeface="Arial"/>
                  </a:rPr>
                  <a:t>Records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7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CV Macro F1 (train)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9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Dummy</c:v>
                  </c:pt>
                  <c:pt idx="1">
                    <c:v>Log. Reg.</c:v>
                  </c:pt>
                  <c:pt idx="2">
                    <c:v>Random Forest</c:v>
                  </c:pt>
                  <c:pt idx="3">
                    <c:v>XGBoost</c:v>
                  </c:pt>
                  <c:pt idx="4">
                    <c:v>CatBoost</c:v>
                  </c:pt>
                  <c:pt idx="5">
                    <c:v>Stacking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0.1969</c:v>
                </c:pt>
                <c:pt idx="1">
                  <c:v>0.7084</c:v>
                </c:pt>
                <c:pt idx="2">
                  <c:v>0.7909</c:v>
                </c:pt>
                <c:pt idx="3">
                  <c:v>0.7956</c:v>
                </c:pt>
                <c:pt idx="4">
                  <c:v>0.7766</c:v>
                </c:pt>
                <c:pt idx="5">
                  <c:v>0.7881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Test Macro F1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9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Dummy</c:v>
                  </c:pt>
                  <c:pt idx="1">
                    <c:v>Log. Reg.</c:v>
                  </c:pt>
                  <c:pt idx="2">
                    <c:v>Random Forest</c:v>
                  </c:pt>
                  <c:pt idx="3">
                    <c:v>XGBoost</c:v>
                  </c:pt>
                  <c:pt idx="4">
                    <c:v>CatBoost</c:v>
                  </c:pt>
                  <c:pt idx="5">
                    <c:v>Stacking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0.1968</c:v>
                </c:pt>
                <c:pt idx="1">
                  <c:v>0.6455</c:v>
                </c:pt>
                <c:pt idx="2">
                  <c:v>0.7773</c:v>
                </c:pt>
                <c:pt idx="3">
                  <c:v>0.775</c:v>
                </c:pt>
                <c:pt idx="4">
                  <c:v>0.7195</c:v>
                </c:pt>
                <c:pt idx="5">
                  <c:v>0.8021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000" u="none">
                  <a:solidFill>
                    <a:srgbClr val="1F29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000000"/>
                    </a:solidFill>
                    <a:latin typeface="Arial"/>
                  </a:rPr>
                  <a:t>Macro F1</a:t>
                </a:r>
              </a:p>
            </c:rich>
          </c:tx>
          <c:layout/>
          <c:overlay val="0"/>
        </c:title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7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The project predicts which failure mode a milling machine is in, not just whether it fails.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Failure is 96.9% of records; TWF has only 43. That imbalance drives the choice of Macro F1.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6304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Manufacturing Machine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Failure-Type Prediction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5661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Multi-class classification of failure modes on the UCI AI4I 2020 Predictive Maintenance Dataset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4617720"/>
            <a:ext cx="320040" cy="32004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234440" y="45720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Chanakya  ·  Machine Learning Project  ·  September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 how a machine will fail is more actionable than knowing that it will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one operating snapshot X — product type and five sensor readings — learn  Failure Type = f(X)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606040"/>
            <a:ext cx="822960" cy="82296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606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TWF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6118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Wear Failure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1148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Replace the tool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383280" y="237744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2606040"/>
            <a:ext cx="822960" cy="82296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57600" y="2606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HDF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0" y="36118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Dissipation Failure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0" y="41148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Improve cooling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17920" y="237744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92240" y="2606040"/>
            <a:ext cx="822960" cy="82296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92240" y="2606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PWF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36118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Failure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492240" y="41148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Change speed–torque point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052560" y="237744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326880" y="2606040"/>
            <a:ext cx="822960" cy="82296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326880" y="2606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OSF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9326880" y="36118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Overstrain Failure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9326880" y="41148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Reduce load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54864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classes (the four modes + No Failure) · supervised · heavily imbalanced · primary metric: Macro F1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13842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164592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valid 5-class target from the raw failure flags — no silent data loss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172200" y="146304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0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7178040" y="164592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Leakage-free, reproducible pipeline shared by training and deployment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06324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3383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324612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physically motivated engineered features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72200" y="306324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0" y="3383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7178040" y="324612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baseline, bagging, boosting, advanced boosting and stacking with stratified CV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466344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4983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2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484632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errors and interpret the model (permutation importance, SHAP)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172200" y="466344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0" y="4983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200" dirty="0"/>
          </a:p>
        </p:txBody>
      </p:sp>
      <p:sp>
        <p:nvSpPr>
          <p:cNvPr id="20" name="Text 18"/>
          <p:cNvSpPr txBox="1"/>
          <p:nvPr/>
        </p:nvSpPr>
        <p:spPr>
          <a:xfrm>
            <a:off x="7178040" y="484632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 validated Streamlit app backed by automated tests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13842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AI4I 2020 — synthetic data modelled on real milling operations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10,000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31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× 14 columns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2651760" y="16002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2651760" y="23317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/ duplicates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160020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23317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excluded (0.5%)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063240"/>
            <a:ext cx="5760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Inputs: Type (L/M/H), air &amp; process temperature, rotational speed, torque, tool wear</a:t>
            </a:r>
            <a:endParaRPr lang="en-US" sz="14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 as inputs: UDI and Product ID (identifiers), Machine failure and the mode flags (target leakage)</a:t>
            </a:r>
            <a:endParaRPr lang="en-US" sz="14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built from flags; RNF (random failure) not a class — independent of the inputs</a:t>
            </a:r>
            <a:endParaRPr lang="en-US" sz="14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 rows: 23 multi-mode, 18 contradictory RNF, 9 failures with unknown mode</a:t>
            </a:r>
            <a:endParaRPr lang="en-US" sz="145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6583680" y="1463040"/>
          <a:ext cx="512064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Text 9"/>
          <p:cNvSpPr txBox="1"/>
          <p:nvPr/>
        </p:nvSpPr>
        <p:spPr>
          <a:xfrm>
            <a:off x="113842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Preprocessing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cleaning first, a single stratified split, then everything fitted inside CV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560320" cy="2377440"/>
          </a:xfrm>
          <a:prstGeom prst="roundRect">
            <a:avLst>
              <a:gd name="adj" fmla="val 3077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8745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 &amp; label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77440"/>
            <a:ext cx="2148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5-class target; log 50 exclusions; validity checks: 0 invalid values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108960" y="26517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383280" y="1737360"/>
            <a:ext cx="2560320" cy="2377440"/>
          </a:xfrm>
          <a:prstGeom prst="roundRect">
            <a:avLst>
              <a:gd name="adj" fmla="val 3077"/>
            </a:avLst>
          </a:prstGeom>
          <a:solidFill>
            <a:srgbClr val="FFF4D6"/>
          </a:solidFill>
          <a:ln w="12700">
            <a:solidFill>
              <a:srgbClr val="FFF4D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11880" y="18745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3611880" y="2377440"/>
            <a:ext cx="2148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80 / 20, random_state = 42 → 7,960 train / 1,990 test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943600" y="26517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6217920" y="1737360"/>
            <a:ext cx="2560320" cy="2377440"/>
          </a:xfrm>
          <a:prstGeom prst="roundRect">
            <a:avLst>
              <a:gd name="adj" fmla="val 3077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46520" y="18745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2377440"/>
            <a:ext cx="2148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FeatureEngineer → ColumnTransformer (one-hot Type) → model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778240" y="26517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9052560" y="1737360"/>
            <a:ext cx="2560320" cy="2377440"/>
          </a:xfrm>
          <a:prstGeom prst="roundRect">
            <a:avLst>
              <a:gd name="adj" fmla="val 3077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281160" y="18745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Fit in CV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9281160" y="2377440"/>
            <a:ext cx="2148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refitted in every fold; test set read once at the end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434840"/>
            <a:ext cx="11064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Scaling: not applied for tree models (split thresholds are scale-invariant); standardised only for Logistic Regression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kept: high-rpm / extreme-torque rows are real operating points — torque outliers are 89.9% failures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Type raises an error instead of being silently encoded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13842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failure mode lives in its own region of the operating space</a:t>
            </a:r>
            <a:endParaRPr lang="en-US" sz="1600" dirty="0"/>
          </a:p>
        </p:txBody>
      </p:sp>
      <p:pic>
        <p:nvPicPr>
          <p:cNvPr id="4" name="Image 0" descr="/home/claude/manufacturing-machine-failure-prediction/figures/04_parameter_space_by_failure_ty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887" y="1417320"/>
            <a:ext cx="7186387" cy="51206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955280" y="1645920"/>
            <a:ext cx="38404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HDF: smallest process–air temperature gap and below ~1,380 rpm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PWF: both ends of the speed–torque curve — extreme power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OSF: high tool wear and high torque; ~10× more common for L-type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TWF: only at tool wear ≈ 200–246 min, otherwise overlaps No Failure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Speed–torque and air–process temperature correlate at ±0.88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113842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physical quantities, computed inside the pipeline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760720" cy="1280160"/>
          </a:xfrm>
          <a:prstGeom prst="roundRect">
            <a:avLst>
              <a:gd name="adj" fmla="val 5714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373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 difference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402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− Air temperature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840480" y="19659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gap → HDF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063240"/>
            <a:ext cx="5760720" cy="1280160"/>
          </a:xfrm>
          <a:prstGeom prst="roundRect">
            <a:avLst>
              <a:gd name="adj" fmla="val 5714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32004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7033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Torque × rpm × 2π / 60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840480" y="34290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low or very high → PWF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526280"/>
            <a:ext cx="5760720" cy="1280160"/>
          </a:xfrm>
          <a:prstGeom prst="roundRect">
            <a:avLst>
              <a:gd name="adj" fmla="val 5714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4663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Strain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51663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wear × Torque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840480" y="48920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→ OSF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675120" y="1600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5-fold CV Macro F1 (RF + XGBoost)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675120" y="20574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0.684</a:t>
            </a:r>
            <a:endParaRPr lang="en-US" sz="3600" dirty="0"/>
          </a:p>
        </p:txBody>
      </p:sp>
      <p:sp>
        <p:nvSpPr>
          <p:cNvPr id="18" name="Text 16"/>
          <p:cNvSpPr txBox="1"/>
          <p:nvPr/>
        </p:nvSpPr>
        <p:spPr>
          <a:xfrm>
            <a:off x="6675120" y="2788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features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732520" y="210312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600" dirty="0"/>
          </a:p>
        </p:txBody>
      </p:sp>
      <p:sp>
        <p:nvSpPr>
          <p:cNvPr id="20" name="Text 18"/>
          <p:cNvSpPr txBox="1"/>
          <p:nvPr/>
        </p:nvSpPr>
        <p:spPr>
          <a:xfrm>
            <a:off x="9326880" y="20574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0.791</a:t>
            </a:r>
            <a:endParaRPr lang="en-US" sz="3600" dirty="0"/>
          </a:p>
        </p:txBody>
      </p:sp>
      <p:sp>
        <p:nvSpPr>
          <p:cNvPr id="21" name="Text 19"/>
          <p:cNvSpPr txBox="1"/>
          <p:nvPr/>
        </p:nvSpPr>
        <p:spPr>
          <a:xfrm>
            <a:off x="9326880" y="27889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engineered features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675120" y="3657600"/>
            <a:ext cx="5029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Dropping raw temperatures afterwards: 0.789 — no gain, so all features kept</a:t>
            </a:r>
            <a:endParaRPr lang="en-US" sz="14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used CV on the training split only, with two model families</a:t>
            </a:r>
            <a:endParaRPr lang="en-US" sz="14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transformer → no leakage, identical in the app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113842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Models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accuracy is the wrong yardstick here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4389120"/>
          </a:xfrm>
          <a:prstGeom prst="roundRect">
            <a:avLst>
              <a:gd name="adj" fmla="val 1667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288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Dummy — always "No Failure"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688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0.9688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004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24688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0.1968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3291840" y="32004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Macro F1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02336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no failures at all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exactly 0.5: constant probabilities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63640" y="1645920"/>
            <a:ext cx="5394960" cy="4389120"/>
          </a:xfrm>
          <a:prstGeom prst="roundRect">
            <a:avLst>
              <a:gd name="adj" fmla="val 1667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37960" y="18288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 (scaled inputs)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24688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0.7084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32004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Macro F1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006840" y="24688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0.6455</a:t>
            </a:r>
            <a:endParaRPr lang="en-US" sz="3600" dirty="0"/>
          </a:p>
        </p:txBody>
      </p:sp>
      <p:sp>
        <p:nvSpPr>
          <p:cNvPr id="16" name="Text 14"/>
          <p:cNvSpPr txBox="1"/>
          <p:nvPr/>
        </p:nvSpPr>
        <p:spPr>
          <a:xfrm>
            <a:off x="9006840" y="32004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Macro F1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537960" y="402336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on OSF, misses every TWF case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regions are not linearly separable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bar every ensemble must clear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 = unweighted mean of per-class F1 → every failure mode counts as much as No Failure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13842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 — Bagging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RandomizedSearchCV · 30 candidates × 5 folds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1828800"/>
          </a:xfrm>
          <a:prstGeom prst="roundRect">
            <a:avLst>
              <a:gd name="adj" fmla="val 400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0.7909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14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Macro F1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651760" y="17830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0.7773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2651760" y="2514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Macro F1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1737360"/>
            <a:ext cx="6766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model memorised training data (train F1 1.000, CV 0.7842)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Tuned: max_depth 12, max_features 0.5, class_weight balanced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Train–CV gap cut from 0.216 to 0.025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7 / 9 TWF but raises 85 false alarms</a:t>
            </a:r>
            <a:endParaRPr lang="en-US" sz="1400" dirty="0"/>
          </a:p>
        </p:txBody>
      </p:sp>
      <p:pic>
        <p:nvPicPr>
          <p:cNvPr id="10" name="Image 0" descr="/home/claude/manufacturing-machine-failure-prediction/figures/13_confusion_matrix_random_for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62958" y="3520440"/>
            <a:ext cx="7235605" cy="292608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13842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XGBoost — Boosting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= multi:softprob · RandomizedSearchCV · 30 candidates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1828800"/>
          </a:xfrm>
          <a:prstGeom prst="roundRect">
            <a:avLst>
              <a:gd name="adj" fmla="val 400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0.7956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14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Macro F1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651760" y="17830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0.7750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2651760" y="2514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Macro F1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1737360"/>
            <a:ext cx="6766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lifted CV Macro F1 from 0.7620 to 0.7956 — highest of all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class weights via per-sample weights (custom wrapper)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4, 489 trees, learning rate 0.057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9 false alarms; 12 missed failures</a:t>
            </a:r>
            <a:endParaRPr lang="en-US" sz="1400" dirty="0"/>
          </a:p>
        </p:txBody>
      </p:sp>
      <p:pic>
        <p:nvPicPr>
          <p:cNvPr id="10" name="Image 0" descr="/home/claude/manufacturing-machine-failure-prediction/figures/13_confusion_matrix_xgboo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62958" y="3520440"/>
            <a:ext cx="7235605" cy="292608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13842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CatBoost — Advanced Boosting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boosting + symmetric trees · RandomizedSearchCV · 20 candidates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1828800"/>
          </a:xfrm>
          <a:prstGeom prst="roundRect">
            <a:avLst>
              <a:gd name="adj" fmla="val 400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0.7766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14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Macro F1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651760" y="17830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0.7195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2651760" y="2514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Macro F1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1737360"/>
            <a:ext cx="6766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Macro F1 0.7551 → 0.7766 after tuning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Best: depth 8, MultiClassOneVsAll, SqrtBalanced weights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Weakest ensemble here — its categorical strength has little to act on (one 3-level feature)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two library quirks (None weighting, 2-D predictions)</a:t>
            </a:r>
            <a:endParaRPr lang="en-US" sz="1400" dirty="0"/>
          </a:p>
        </p:txBody>
      </p:sp>
      <p:pic>
        <p:nvPicPr>
          <p:cNvPr id="10" name="Image 0" descr="/home/claude/manufacturing-machine-failure-prediction/figures/13_confusion_matrix_catboo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62958" y="3520440"/>
            <a:ext cx="7235605" cy="292608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13842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Stacking Ensemble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+ XGBoost + CatBoost → balanced Logistic Regression on out-of-fold probabilities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1828800"/>
          </a:xfrm>
          <a:prstGeom prst="roundRect">
            <a:avLst>
              <a:gd name="adj" fmla="val 400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0.7881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14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Macro F1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651760" y="17830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0.8021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2651760" y="2514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Macro F1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1737360"/>
            <a:ext cx="6766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stable across folds, but CV not above XGBoost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test recall (0.9669) and Macro F1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8 / 9 TWF — at the cost of 105 false alarms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Shifts the precision–recall trade-off rather than dominating</a:t>
            </a:r>
            <a:endParaRPr lang="en-US" sz="1400" dirty="0"/>
          </a:p>
        </p:txBody>
      </p:sp>
      <p:pic>
        <p:nvPicPr>
          <p:cNvPr id="10" name="Image 0" descr="/home/claude/manufacturing-machine-failure-prediction/figures/13_confusion_matrix_stack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62958" y="3520440"/>
            <a:ext cx="7235605" cy="292608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13842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Hyperparameter Tuning &amp; Cross-Validation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StratifiedKFold(5, shuffle, 42) · scoring = f1_macro · same folds for every model</a:t>
            </a:r>
            <a:endParaRPr lang="en-US" sz="1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713232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828800"/>
                <a:gridCol w="1554480"/>
                <a:gridCol w="914400"/>
                <a:gridCol w="9144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 Macro F1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F1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− CV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Dummy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(fixed strategy)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0.1969 ± 0.0000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0.1969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GridSearchCV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0.7084 ± 0.0419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0.7143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+0.0060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RandomizedSearchCV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0.7909 ± 0.0129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0.8157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+0.0248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RandomizedSearchCV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0.7956 ± 0.0294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0.9936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+0.1980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CatBoost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RandomizedSearchCV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0.7766 ± 0.0304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+0.2234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GridSearchCV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0.7881 ± 0.0101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0.8103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+0.0222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955280" y="1691640"/>
            <a:ext cx="38404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RandomizedSearchCV for large spaces, GridSearchCV for small final grids</a:t>
            </a:r>
            <a:endParaRPr lang="en-US" sz="14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 fits training rows almost perfectly (train F1 ≈ 1.0) — CV is what counts</a:t>
            </a:r>
            <a:endParaRPr lang="en-US" sz="14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std 0.01–0.03: each validation fold holds only ~7 TWF rows</a:t>
            </a:r>
            <a:endParaRPr lang="en-US" sz="14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three within ~1 std of each other</a:t>
            </a:r>
            <a:endParaRPr lang="en-US" sz="1450" dirty="0"/>
          </a:p>
        </p:txBody>
      </p:sp>
      <p:sp>
        <p:nvSpPr>
          <p:cNvPr id="6" name="Text 3"/>
          <p:cNvSpPr txBox="1"/>
          <p:nvPr/>
        </p:nvSpPr>
        <p:spPr>
          <a:xfrm>
            <a:off x="113842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Comparison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rule fixed in advance: highest mean CV Macro F1 → XGBoost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63040"/>
          <a:ext cx="694944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680960" y="1554480"/>
            <a:ext cx="4023360" cy="2377440"/>
          </a:xfrm>
          <a:prstGeom prst="roundRect">
            <a:avLst>
              <a:gd name="adj" fmla="val 3077"/>
            </a:avLst>
          </a:prstGeom>
          <a:solidFill>
            <a:srgbClr val="FFF4D6"/>
          </a:solidFill>
          <a:ln w="12700">
            <a:solidFill>
              <a:srgbClr val="FFF4D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909560" y="1691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model: XGBoost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909560" y="219456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Macro F1 0.7750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0.9894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ROC-AUC 0.9873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F1 0.9886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680960" y="4160520"/>
            <a:ext cx="4023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Stacking has higher test F1 (0.8021), but picking by test score would bias it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XGBoost: 9 false alarms vs 105 for Stacking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model: faster, simpler to explain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13842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Confusion Matrix &amp; Misclassification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errors in 1,990 test rows — failure types are never confused with each other</a:t>
            </a:r>
            <a:endParaRPr lang="en-US" sz="1600" dirty="0"/>
          </a:p>
        </p:txBody>
      </p:sp>
      <p:pic>
        <p:nvPicPr>
          <p:cNvPr id="4" name="Image 0" descr="/home/claude/manufacturing-machine-failure-prediction/figures/14_confusion_matrix_final_mod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978103"/>
            <a:ext cx="6949440" cy="2810355"/>
          </a:xfrm>
          <a:prstGeom prst="rect">
            <a:avLst/>
          </a:prstGeom>
        </p:spPr>
      </p:pic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394960"/>
          <a:ext cx="658368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554480"/>
                <a:gridCol w="1463040"/>
                <a:gridCol w="164592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 alarms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TWF caught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/ 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/ 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/ 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7589520" y="1645920"/>
            <a:ext cx="4206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TWF → No Failure (8 / 9): only 4.8% of rows at TWF-level tool wear are TWF — nothing separates them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PWF misses: 9,010–9,014 W, inside the 8,990–9,020 W gap with no training examples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OSF / HDF errors: records next to a class threshold; only 3 M-type OSF rows to learn from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+ overlapping features, not label noise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113842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Importance &amp; SHAP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failure mode is driven by its physically expected quantity</a:t>
            </a:r>
            <a:endParaRPr lang="en-US" sz="1600" dirty="0"/>
          </a:p>
        </p:txBody>
      </p:sp>
      <p:pic>
        <p:nvPicPr>
          <p:cNvPr id="4" name="Image 0" descr="/home/claude/manufacturing-machine-failure-prediction/figures/16_shap_mean_abs_by_cla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930461"/>
            <a:ext cx="6583680" cy="400291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269480" y="1645920"/>
            <a:ext cx="640080" cy="64008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26948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OSF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092440" y="1737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Strain (tool wear × torque)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269480" y="2514600"/>
            <a:ext cx="640080" cy="64008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269480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PWF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092440" y="2606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269480" y="3383280"/>
            <a:ext cx="640080" cy="64008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269480" y="3383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8092440" y="3474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difference + rpm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7269480" y="4251960"/>
            <a:ext cx="640080" cy="64008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269480" y="4251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TWF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8092440" y="43434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wear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7269480" y="516636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Permutation (raw inputs): torque 0.376, rpm 0.342, tool wear 0.217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features rank in the model's top 5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 ≠ causation</a:t>
            </a:r>
            <a:endParaRPr 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113842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Streamlit Deployment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saved pipeline: feature engineering → preprocessing → XGBoost</a:t>
            </a:r>
            <a:endParaRPr lang="en-US" sz="1600" dirty="0"/>
          </a:p>
        </p:txBody>
      </p:sp>
      <p:pic>
        <p:nvPicPr>
          <p:cNvPr id="4" name="Image 0" descr="/home/claude/manufacturing-machine-failure-prediction/figures/app_screenshots/02_prediction_hd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34477"/>
            <a:ext cx="6949440" cy="488632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680960" y="1645920"/>
            <a:ext cx="41148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models/final_model.joblib — no preprocessing re-implemented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inputs: missing, non-numeric, implausible, process ≤ air temperature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Warns when inputs leave the training range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predicted type, confidence and all class probabilities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automated tests incl. a headless run of the app — all passing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644652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Screenshot: a real HDF record from the test set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113842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Scope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0.775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945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Macro F1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383280" y="13716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0.989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3383280" y="21945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217920" y="13716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0.933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6217920" y="21945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 without TWF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052560" y="13716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9052560" y="21945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/ 1,990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92608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learned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474720"/>
            <a:ext cx="5303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HDF, OSF, PWF predicted reliably; decisions match the physics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TWF is not predictable from these inputs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models differ in false alarms vs missed failures, not in a clear winner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292608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3474720"/>
            <a:ext cx="5394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Cost-sensitive thresholds from real failure costs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Multi-label model for simultaneous failure modes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shop-floor data and time-series features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and drift monitoring in production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3842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Manufacturing Machine Failure-Type Prediction</dc:title>
  <dc:subject>PptxGenJS Presentation</dc:subject>
  <dc:creator>Chanakya</dc:creator>
  <cp:lastModifiedBy>Chanakya</cp:lastModifiedBy>
  <cp:revision>1</cp:revision>
  <dcterms:created xsi:type="dcterms:W3CDTF">2026-09-26T12:25:33Z</dcterms:created>
  <dcterms:modified xsi:type="dcterms:W3CDTF">2026-09-26T12:25:33Z</dcterms:modified>
</cp:coreProperties>
</file>